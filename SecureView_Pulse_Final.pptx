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6" r:id="rId9"/>
    <p:sldId id="267" r:id="rId10"/>
    <p:sldId id="268" r:id="rId11"/>
    <p:sldId id="269" r:id="rId12"/>
    <p:sldId id="270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825" autoAdjust="0"/>
    <p:restoredTop sz="94660"/>
  </p:normalViewPr>
  <p:slideViewPr>
    <p:cSldViewPr snapToGrid="0" snapToObjects="1">
      <p:cViewPr>
        <p:scale>
          <a:sx n="67" d="100"/>
          <a:sy n="67" d="100"/>
        </p:scale>
        <p:origin x="24" y="-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42:45.3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6553,'0'0'0,"0"0"0,0 0 0,0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0" y="10633"/>
            <a:ext cx="3959352" cy="68580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45720" cy="685800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74980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 dirty="0" err="1">
                <a:solidFill>
                  <a:srgbClr val="FFFFFF"/>
                </a:solidFill>
              </a:rPr>
              <a:t>SecureView</a:t>
            </a:r>
            <a:r>
              <a:rPr sz="5000" b="1" i="0" dirty="0">
                <a:solidFill>
                  <a:srgbClr val="FFFFFF"/>
                </a:solidFill>
              </a:rPr>
              <a:t> 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C9FF"/>
                </a:solidFill>
              </a:rPr>
              <a:t>Cyber Threat Intelligence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46120"/>
            <a:ext cx="4572000" cy="36576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8899BB"/>
                </a:solidFill>
              </a:rPr>
              <a:t>AI-Powered  ·  Real-Time Monitoring  ·  Integrated Security Tooling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0972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 dirty="0">
                <a:solidFill>
                  <a:srgbClr val="00C9FF"/>
                </a:solidFill>
              </a:rPr>
              <a:t>🛡️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1737360" cy="34747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E1A"/>
                </a:solidFill>
              </a:rPr>
              <a:t>Threat Detection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4114800"/>
            <a:ext cx="1737360" cy="34747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31720" y="41148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E1A"/>
                </a:solidFill>
              </a:rPr>
              <a:t>AI Analytics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4114800"/>
            <a:ext cx="1737360" cy="34747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06240" y="41148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E1A"/>
                </a:solidFill>
              </a:rPr>
              <a:t>Security Tools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59" y="4114800"/>
            <a:ext cx="1737360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80759" y="4114800"/>
            <a:ext cx="1737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0A0E1A"/>
                </a:solidFill>
              </a:rPr>
              <a:t>SIEM</a:t>
            </a:r>
            <a:r>
              <a:rPr lang="en-IN" sz="1000" b="1" i="0" dirty="0">
                <a:solidFill>
                  <a:srgbClr val="0A0E1A"/>
                </a:solidFill>
              </a:rPr>
              <a:t>-lite</a:t>
            </a:r>
            <a:endParaRPr sz="1000" b="1" i="0" dirty="0">
              <a:solidFill>
                <a:srgbClr val="0A0E1A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62636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</a:rPr>
              <a:t>Cybersecurity Research Team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000" b="1" i="0" dirty="0">
                <a:solidFill>
                  <a:srgbClr val="00C9FF"/>
                </a:solidFill>
              </a:rPr>
              <a:t>PROBLEM STATEMENT</a:t>
            </a:r>
            <a:endParaRPr sz="3000" b="1" i="0" dirty="0">
              <a:solidFill>
                <a:srgbClr val="00C9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8899BB"/>
                </a:solidFill>
              </a:rPr>
              <a:t>Why a unified CTI platform is needed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577840" cy="1737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577840" cy="4572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303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3B3B"/>
                </a:solidFill>
              </a:rPr>
              <a:t>Fragmented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01952"/>
            <a:ext cx="53035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CCDDFF"/>
                </a:solidFill>
              </a:rPr>
              <a:t>Security teams juggle 10+ disconnected tools — no unified view, slower response, missed correlations.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577840" cy="1737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57784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8C00"/>
                </a:solidFill>
              </a:rPr>
              <a:t>Reactive Posture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01952"/>
            <a:ext cx="5303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CCDDFF"/>
                </a:solidFill>
              </a:rPr>
              <a:t>Threats detected AFTER damage. No proactive, AI-driven alerting in traditional setups.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91840"/>
            <a:ext cx="5577840" cy="1737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291840"/>
            <a:ext cx="5577840" cy="4572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383280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DD00"/>
                </a:solidFill>
              </a:rPr>
              <a:t>Data Without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22192"/>
            <a:ext cx="53035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CCDDFF"/>
                </a:solidFill>
              </a:rPr>
              <a:t>Raw logs flood in continuously with no automated analysis — triage is slow and error-prone.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291840"/>
            <a:ext cx="5577840" cy="1737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291840"/>
            <a:ext cx="5577840" cy="457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3383280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E596"/>
                </a:solidFill>
              </a:rPr>
              <a:t>No Integrated Tooling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822192"/>
            <a:ext cx="5303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CCDDFF"/>
                </a:solidFill>
              </a:rPr>
              <a:t>SOC, pen testers, and forensics teams work in silos with no shared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000" b="1" i="0" dirty="0">
                <a:solidFill>
                  <a:srgbClr val="00C9FF"/>
                </a:solidFill>
              </a:rPr>
              <a:t>PROJECT OVERVIEW</a:t>
            </a:r>
            <a:endParaRPr sz="3000" b="1" i="0" dirty="0">
              <a:solidFill>
                <a:srgbClr val="00C9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303520" cy="5120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36090"/>
            <a:ext cx="11274860" cy="45719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dirty="0">
                <a:solidFill>
                  <a:srgbClr val="92D050"/>
                </a:solidFill>
              </a:rPr>
              <a:t>CORE CAPABILITIES</a:t>
            </a:r>
            <a:endParaRPr sz="2800" b="1" i="0" dirty="0">
              <a:solidFill>
                <a:srgbClr val="92D05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FA780ED-9839-7401-0AB7-07D073ABFE83}"/>
              </a:ext>
            </a:extLst>
          </p:cNvPr>
          <p:cNvSpPr/>
          <p:nvPr/>
        </p:nvSpPr>
        <p:spPr>
          <a:xfrm>
            <a:off x="457199" y="2124029"/>
            <a:ext cx="4813443" cy="9731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Real-time threat detection &amp; geospatial alerting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8FD829-0CBF-2C13-8005-3B8B607BFFBB}"/>
              </a:ext>
            </a:extLst>
          </p:cNvPr>
          <p:cNvSpPr/>
          <p:nvPr/>
        </p:nvSpPr>
        <p:spPr>
          <a:xfrm>
            <a:off x="6904234" y="2124029"/>
            <a:ext cx="4736386" cy="9731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REST API &amp; Live API stream integration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97E8989-9BDA-E11E-103E-687F188A3D85}"/>
              </a:ext>
            </a:extLst>
          </p:cNvPr>
          <p:cNvSpPr/>
          <p:nvPr/>
        </p:nvSpPr>
        <p:spPr>
          <a:xfrm>
            <a:off x="457199" y="5097378"/>
            <a:ext cx="4813441" cy="9731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Auto-block engine for critical threats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0F8B5DE-67EA-FCAF-4217-A230BEF91461}"/>
              </a:ext>
            </a:extLst>
          </p:cNvPr>
          <p:cNvSpPr/>
          <p:nvPr/>
        </p:nvSpPr>
        <p:spPr>
          <a:xfrm>
            <a:off x="6904234" y="5097378"/>
            <a:ext cx="4736386" cy="9731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Multi-source data ingestion (CSV/JSON/Live API)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6AE5F57-08AE-BDA8-9AAF-CA8311A7B0C5}"/>
              </a:ext>
            </a:extLst>
          </p:cNvPr>
          <p:cNvSpPr/>
          <p:nvPr/>
        </p:nvSpPr>
        <p:spPr>
          <a:xfrm>
            <a:off x="6904234" y="3496918"/>
            <a:ext cx="4736386" cy="9731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Automated security recommendations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947879E-8F27-A903-2B9F-A9F7FDF01318}"/>
              </a:ext>
            </a:extLst>
          </p:cNvPr>
          <p:cNvSpPr/>
          <p:nvPr/>
        </p:nvSpPr>
        <p:spPr>
          <a:xfrm>
            <a:off x="457200" y="3514565"/>
            <a:ext cx="4813442" cy="9731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AI-powered threat summarization via LLM</a:t>
            </a:r>
            <a:endParaRPr lang="en-IN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9FF"/>
                </a:solidFill>
              </a:rPr>
              <a:t>Live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Real-time threat metrics, geo map and live alert 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2651760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265176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39903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8C00"/>
                </a:solidFill>
              </a:rPr>
              <a:t>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756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</a:rPr>
              <a:t>Total Threats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325880"/>
            <a:ext cx="2651760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0" y="1325880"/>
            <a:ext cx="2651760" cy="4572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139903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3B3B"/>
                </a:solidFill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0756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</a:rPr>
              <a:t>Critical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25880"/>
            <a:ext cx="2651760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265176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0" y="139903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8C00"/>
                </a:solidFill>
              </a:rPr>
              <a:t>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0756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</a:rPr>
              <a:t>High Risk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325880"/>
            <a:ext cx="2651760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869680" y="1325880"/>
            <a:ext cx="2651760" cy="457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0" y="139903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E596"/>
                </a:solidFill>
              </a:rPr>
              <a:t>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0756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</a:rPr>
              <a:t>Med / 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697480"/>
            <a:ext cx="5303520" cy="3749039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2697480"/>
            <a:ext cx="5303520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2807208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C9FF"/>
                </a:solidFill>
              </a:rPr>
              <a:t>🌍  Geospatial Risk 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657" y="3291840"/>
            <a:ext cx="493776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CCDDFF"/>
                </a:solidFill>
              </a:rPr>
              <a:t>  </a:t>
            </a:r>
            <a:r>
              <a:rPr sz="2000" dirty="0">
                <a:solidFill>
                  <a:srgbClr val="CCDDFF"/>
                </a:solidFill>
              </a:rPr>
              <a:t>Real-time global attack vector overlay</a:t>
            </a:r>
            <a:endParaRPr lang="en-IN" sz="2000" dirty="0">
              <a:solidFill>
                <a:srgbClr val="CCDDFF"/>
              </a:solidFill>
            </a:endParaRPr>
          </a:p>
          <a:p>
            <a:pPr algn="l"/>
            <a:endParaRPr sz="2000" dirty="0">
              <a:solidFill>
                <a:srgbClr val="CCDDFF"/>
              </a:solidFill>
            </a:endParaRPr>
          </a:p>
          <a:p>
            <a:pPr algn="l"/>
            <a:r>
              <a:rPr sz="2000" dirty="0">
                <a:solidFill>
                  <a:srgbClr val="CCDDFF"/>
                </a:solidFill>
              </a:rPr>
              <a:t>Origins: China, UK, Nigeria, US, Brazil</a:t>
            </a:r>
            <a:endParaRPr lang="en-IN" sz="2000" dirty="0">
              <a:solidFill>
                <a:srgbClr val="CCDDFF"/>
              </a:solidFill>
            </a:endParaRPr>
          </a:p>
          <a:p>
            <a:pPr algn="l"/>
            <a:endParaRPr sz="2000" dirty="0">
              <a:solidFill>
                <a:srgbClr val="CCDDFF"/>
              </a:solidFill>
            </a:endParaRPr>
          </a:p>
          <a:p>
            <a:pPr algn="l"/>
            <a:r>
              <a:rPr sz="2000" dirty="0">
                <a:solidFill>
                  <a:srgbClr val="CCDDFF"/>
                </a:solidFill>
              </a:rPr>
              <a:t>Target IP mapping with severity </a:t>
            </a:r>
            <a:r>
              <a:rPr sz="2000" dirty="0" err="1">
                <a:solidFill>
                  <a:srgbClr val="CCDDFF"/>
                </a:solidFill>
              </a:rPr>
              <a:t>colour</a:t>
            </a:r>
            <a:r>
              <a:rPr sz="2000" dirty="0">
                <a:solidFill>
                  <a:srgbClr val="CCDDFF"/>
                </a:solidFill>
              </a:rPr>
              <a:t> coding</a:t>
            </a:r>
            <a:endParaRPr lang="en-IN" sz="2000" dirty="0">
              <a:solidFill>
                <a:srgbClr val="CCDDFF"/>
              </a:solidFill>
            </a:endParaRPr>
          </a:p>
          <a:p>
            <a:pPr algn="l"/>
            <a:endParaRPr sz="2000" dirty="0">
              <a:solidFill>
                <a:srgbClr val="CCDDFF"/>
              </a:solidFill>
            </a:endParaRPr>
          </a:p>
          <a:p>
            <a:pPr algn="l"/>
            <a:r>
              <a:rPr sz="2000" dirty="0">
                <a:solidFill>
                  <a:srgbClr val="CCDDFF"/>
                </a:solidFill>
              </a:rPr>
              <a:t>Clickable nodes for drill-down incident detail</a:t>
            </a:r>
            <a:endParaRPr lang="en-IN" sz="2000" dirty="0">
              <a:solidFill>
                <a:srgbClr val="CCDDFF"/>
              </a:solidFill>
            </a:endParaRPr>
          </a:p>
          <a:p>
            <a:pPr algn="l"/>
            <a:endParaRPr sz="2000" dirty="0">
              <a:solidFill>
                <a:srgbClr val="CCDDF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852160" y="2697480"/>
            <a:ext cx="5943600" cy="3749039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852160" y="2697480"/>
            <a:ext cx="5943600" cy="4572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35040" y="2807208"/>
            <a:ext cx="5577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3B3B"/>
                </a:solidFill>
              </a:rPr>
              <a:t>🚨  Recent Alerts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3346704"/>
            <a:ext cx="804672" cy="27432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80760" y="3346704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0A0E1A"/>
                </a:solidFill>
              </a:rPr>
              <a:t>CRITICAL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3291840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Man-in-the-Middle · UK · 47.186.43.152 → Port 80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3895344"/>
            <a:ext cx="804672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80760" y="3895344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3840480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Zero-Day · Nigeria · 9.99.126.58 → Port 443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4443984"/>
            <a:ext cx="804672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80760" y="4443984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HIGH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8" y="4389120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DDoS · UK · 29.70.221.207 → Port 3389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4992624"/>
            <a:ext cx="804672" cy="27432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80760" y="4992624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MEDIUM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8" y="4937760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SQL Injection · Brazil · multiple targets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5541264"/>
            <a:ext cx="804672" cy="274320"/>
          </a:xfrm>
          <a:prstGeom prst="rect">
            <a:avLst/>
          </a:prstGeom>
          <a:solidFill>
            <a:srgbClr val="88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80760" y="5541264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67728" y="5486400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Port Scan · Unknown → internal segment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47E460E-FFE9-17D2-8419-B0AA0FD5BEA6}"/>
              </a:ext>
            </a:extLst>
          </p:cNvPr>
          <p:cNvSpPr/>
          <p:nvPr/>
        </p:nvSpPr>
        <p:spPr>
          <a:xfrm>
            <a:off x="557657" y="3303329"/>
            <a:ext cx="4791148" cy="422850"/>
          </a:xfrm>
          <a:prstGeom prst="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4E74368-87E3-069B-345B-B7124C58D65B}"/>
              </a:ext>
            </a:extLst>
          </p:cNvPr>
          <p:cNvSpPr/>
          <p:nvPr/>
        </p:nvSpPr>
        <p:spPr>
          <a:xfrm>
            <a:off x="548640" y="5055519"/>
            <a:ext cx="4791148" cy="422850"/>
          </a:xfrm>
          <a:prstGeom prst="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A718E73-E624-764C-8A6F-78A2DAB5E54A}"/>
              </a:ext>
            </a:extLst>
          </p:cNvPr>
          <p:cNvSpPr/>
          <p:nvPr/>
        </p:nvSpPr>
        <p:spPr>
          <a:xfrm>
            <a:off x="548640" y="4476078"/>
            <a:ext cx="4791148" cy="422850"/>
          </a:xfrm>
          <a:prstGeom prst="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C48BAB7-3F04-D9E7-1604-41460C933AB8}"/>
              </a:ext>
            </a:extLst>
          </p:cNvPr>
          <p:cNvSpPr/>
          <p:nvPr/>
        </p:nvSpPr>
        <p:spPr>
          <a:xfrm>
            <a:off x="557657" y="3851969"/>
            <a:ext cx="4791148" cy="422850"/>
          </a:xfrm>
          <a:prstGeom prst="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9FF"/>
                </a:solidFill>
              </a:rPr>
              <a:t>Analytics &amp; AI Intelligence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Attack analytics, LLM threat summaries and AI-generated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" y="1325880"/>
            <a:ext cx="4142232" cy="5120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749039" cy="457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7C3AFF"/>
                </a:solidFill>
              </a:rPr>
              <a:t>Attack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DDFF"/>
                </a:solidFill>
              </a:rPr>
              <a:t>Phishing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19" y="1938527"/>
            <a:ext cx="1828800" cy="219456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74519" y="1938527"/>
            <a:ext cx="444398" cy="219456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03319" y="1874519"/>
            <a:ext cx="5669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00C9FF"/>
                </a:solidFill>
              </a:rPr>
              <a:t>24.3%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603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DDoS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19" y="2624328"/>
            <a:ext cx="1828800" cy="219456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874519" y="2624328"/>
            <a:ext cx="362102" cy="219456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19" y="2560320"/>
            <a:ext cx="5669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B3B"/>
                </a:solidFill>
              </a:rPr>
              <a:t>19.8%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461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SQL Injection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19" y="3310128"/>
            <a:ext cx="1828800" cy="219456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874519" y="3310128"/>
            <a:ext cx="320040" cy="219456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03319" y="3246120"/>
            <a:ext cx="5669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7C3AFF"/>
                </a:solidFill>
              </a:rPr>
              <a:t>17.5%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Ransomware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4519" y="3995928"/>
            <a:ext cx="1828800" cy="219456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874519" y="3995928"/>
            <a:ext cx="277977" cy="21945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03319" y="3931920"/>
            <a:ext cx="5669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8C00"/>
                </a:solidFill>
              </a:rPr>
              <a:t>15.2%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17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XSS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74519" y="4681728"/>
            <a:ext cx="1828800" cy="219456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874519" y="4681728"/>
            <a:ext cx="239572" cy="21945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03319" y="4617720"/>
            <a:ext cx="5669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00E596"/>
                </a:solidFill>
              </a:rPr>
              <a:t>13.1%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303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Zero-Day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74519" y="5367528"/>
            <a:ext cx="1828800" cy="219456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874519" y="5367528"/>
            <a:ext cx="184708" cy="21945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703319" y="5303520"/>
            <a:ext cx="5669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6B6B"/>
                </a:solidFill>
              </a:rPr>
              <a:t>10.1%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72046" y="1325880"/>
            <a:ext cx="3657600" cy="2423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51960" y="1325880"/>
            <a:ext cx="3657600" cy="457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34840" y="1417320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7C3AFF"/>
                </a:solidFill>
              </a:rPr>
              <a:t>AI Summary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39" y="1828800"/>
            <a:ext cx="352044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00C9FF"/>
                </a:solidFill>
              </a:rPr>
              <a:t>Top nations: </a:t>
            </a:r>
            <a:endParaRPr lang="en-IN" sz="1600" b="0" i="0" dirty="0">
              <a:solidFill>
                <a:srgbClr val="00C9FF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00C9FF"/>
                </a:solidFill>
              </a:rPr>
              <a:t>China </a:t>
            </a:r>
            <a:endParaRPr lang="en-IN" sz="1600" b="0" i="0" dirty="0">
              <a:solidFill>
                <a:srgbClr val="00C9FF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00C9FF"/>
                </a:solidFill>
              </a:rPr>
              <a:t> USA </a:t>
            </a:r>
            <a:endParaRPr lang="en-IN" sz="1600" b="0" i="0" dirty="0">
              <a:solidFill>
                <a:srgbClr val="00C9FF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00C9FF"/>
                </a:solidFill>
              </a:rPr>
              <a:t>Brazil </a:t>
            </a:r>
            <a:endParaRPr lang="en-IN" sz="1600" b="0" i="0" dirty="0">
              <a:solidFill>
                <a:srgbClr val="00C9FF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00C9FF"/>
                </a:solidFill>
              </a:rPr>
              <a:t>UK </a:t>
            </a:r>
            <a:endParaRPr lang="en-IN" sz="1600" b="0" i="0" dirty="0">
              <a:solidFill>
                <a:srgbClr val="00C9FF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00C9FF"/>
                </a:solidFill>
              </a:rPr>
              <a:t>Nigeria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5967" y="3352976"/>
            <a:ext cx="338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3B3B"/>
                </a:solidFill>
              </a:rPr>
              <a:t>Top target: Iran (critical infrastructure)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51960" y="3886200"/>
            <a:ext cx="7543800" cy="2560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4" name="Rectangle 43"/>
          <p:cNvSpPr/>
          <p:nvPr/>
        </p:nvSpPr>
        <p:spPr>
          <a:xfrm>
            <a:off x="4251960" y="3886200"/>
            <a:ext cx="754380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34840" y="3977639"/>
            <a:ext cx="7223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8C00"/>
                </a:solidFill>
              </a:rPr>
              <a:t>24-Hour Trend &amp; Top Targets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0" y="6057900"/>
            <a:ext cx="777240" cy="25146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0" y="63093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</a:rPr>
              <a:t>00-04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77840" y="6158484"/>
            <a:ext cx="777240" cy="150876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577840" y="63093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</a:rPr>
              <a:t>04-08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5605272"/>
            <a:ext cx="777240" cy="70408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0" y="63093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</a:rPr>
              <a:t>08-12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0" y="5404104"/>
            <a:ext cx="777240" cy="905256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89520" y="63093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</a:rPr>
              <a:t>12-16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5705856"/>
            <a:ext cx="777240" cy="603504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95360" y="63093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</a:rPr>
              <a:t>16-20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01200" y="5856732"/>
            <a:ext cx="777240" cy="45262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601200" y="63093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</a:rPr>
              <a:t>20-24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5C19D32-FB8A-96FB-FF9E-4089C2CCDD85}"/>
              </a:ext>
            </a:extLst>
          </p:cNvPr>
          <p:cNvSpPr/>
          <p:nvPr/>
        </p:nvSpPr>
        <p:spPr>
          <a:xfrm>
            <a:off x="8181223" y="1383491"/>
            <a:ext cx="3657600" cy="2423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A18ED51-BE03-A2DC-8BCE-8A8649F6674C}"/>
              </a:ext>
            </a:extLst>
          </p:cNvPr>
          <p:cNvSpPr txBox="1"/>
          <p:nvPr/>
        </p:nvSpPr>
        <p:spPr>
          <a:xfrm>
            <a:off x="8255350" y="1410342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i="0" dirty="0">
                <a:solidFill>
                  <a:srgbClr val="7C3AFF"/>
                </a:solidFill>
              </a:rPr>
              <a:t>Device-wise Attacks</a:t>
            </a:r>
            <a:endParaRPr sz="2000" b="1" i="0" dirty="0">
              <a:solidFill>
                <a:srgbClr val="7C3AFF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1619C17-DD89-E164-A093-7E12596E0F16}"/>
              </a:ext>
            </a:extLst>
          </p:cNvPr>
          <p:cNvSpPr/>
          <p:nvPr/>
        </p:nvSpPr>
        <p:spPr>
          <a:xfrm>
            <a:off x="8235112" y="1350433"/>
            <a:ext cx="3657600" cy="457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8C24BC-4EE7-6DDB-257D-78765A777251}"/>
              </a:ext>
            </a:extLst>
          </p:cNvPr>
          <p:cNvSpPr txBox="1"/>
          <p:nvPr/>
        </p:nvSpPr>
        <p:spPr>
          <a:xfrm>
            <a:off x="8199311" y="1875648"/>
            <a:ext cx="352044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</a:rPr>
              <a:t>Web Servers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chemeClr val="bg2"/>
                </a:solidFill>
              </a:rPr>
              <a:t>Io</a:t>
            </a:r>
            <a:r>
              <a:rPr lang="en-IN" sz="1600" dirty="0">
                <a:solidFill>
                  <a:schemeClr val="bg2"/>
                </a:solidFill>
              </a:rPr>
              <a:t>T Devices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chemeClr val="bg2"/>
                </a:solidFill>
              </a:rPr>
              <a:t>Mail Server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</a:rPr>
              <a:t>Firewall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chemeClr val="bg2"/>
                </a:solidFill>
              </a:rPr>
              <a:t>Router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</a:rPr>
              <a:t>Database Server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chemeClr val="bg2"/>
                </a:solidFill>
              </a:rPr>
              <a:t>Workstation</a:t>
            </a:r>
            <a:endParaRPr sz="1600" b="0" i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9FF"/>
                </a:solidFill>
              </a:rPr>
              <a:t>IP Agent &amp; Integrated Security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AI chatbot interface and the 10+ tools orchestrated within the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4389120" cy="5120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4389120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411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C9FF"/>
                </a:solidFill>
              </a:rPr>
              <a:t>🤖 IP Agent — AI Chatbot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4114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Natural language accessibility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Automated intelligence generation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Non-technical usability</a:t>
            </a: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6344" y="3514909"/>
            <a:ext cx="411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C9FF"/>
                </a:solidFill>
              </a:rPr>
              <a:t>Sample</a:t>
            </a:r>
            <a:r>
              <a:rPr sz="1100" b="1" i="0" dirty="0">
                <a:solidFill>
                  <a:srgbClr val="00C9FF"/>
                </a:solidFill>
              </a:rPr>
              <a:t>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065" y="4069080"/>
            <a:ext cx="887095" cy="530352"/>
          </a:xfrm>
          <a:prstGeom prst="rect">
            <a:avLst/>
          </a:prstGeom>
          <a:solidFill>
            <a:srgbClr val="88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3467" y="4114800"/>
            <a:ext cx="7039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0A0E1A"/>
                </a:solidFill>
              </a:rPr>
              <a:t>User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4069080"/>
            <a:ext cx="32004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89888" y="4133088"/>
            <a:ext cx="30906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DFF"/>
                </a:solidFill>
              </a:rPr>
              <a:t>Show all critical threats from last 24hrs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065" y="4846320"/>
            <a:ext cx="932942" cy="49611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9913" y="4908787"/>
            <a:ext cx="9509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0A0E1A"/>
                </a:solidFill>
              </a:rPr>
              <a:t>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4846320"/>
            <a:ext cx="32004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89888" y="4910328"/>
            <a:ext cx="3017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DFF"/>
                </a:solidFill>
              </a:rPr>
              <a:t>7 critical found: MitM (UK), Zero-Day (Nigeria), DDoS (UK)...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325880"/>
            <a:ext cx="6858000" cy="5120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937760" y="1325880"/>
            <a:ext cx="6858000" cy="457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1417320"/>
            <a:ext cx="649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7C3AFF"/>
                </a:solidFill>
              </a:rPr>
              <a:t>Integrated Security Tooling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1847087"/>
            <a:ext cx="45719" cy="1667821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 flipH="1">
            <a:off x="5015919" y="3915019"/>
            <a:ext cx="58999" cy="176659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166360" y="1863150"/>
            <a:ext cx="6473825" cy="16678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75503" y="1949213"/>
            <a:ext cx="28486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0000"/>
                </a:solidFill>
              </a:rPr>
              <a:t>Web App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2661" y="2440763"/>
            <a:ext cx="640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CCDDFF"/>
                </a:solidFill>
              </a:rPr>
              <a:t>OWASP ZAP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75504" y="3915020"/>
            <a:ext cx="6464681" cy="176659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5175504" y="4017128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C000"/>
                </a:solidFill>
              </a:rPr>
              <a:t>SIEM &amp; Logs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75504" y="4509105"/>
            <a:ext cx="640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0" i="0" dirty="0" err="1">
                <a:solidFill>
                  <a:srgbClr val="CCDDFF"/>
                </a:solidFill>
              </a:rPr>
              <a:t>Wazuh</a:t>
            </a:r>
            <a:endParaRPr sz="2000" b="0" i="0" dirty="0">
              <a:solidFill>
                <a:srgbClr val="CCDDFF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276C7753-270C-C934-74F9-706D026EDD4C}"/>
                  </a:ext>
                </a:extLst>
              </p14:cNvPr>
              <p14:cNvContentPartPr/>
              <p14:nvPr/>
            </p14:nvContentPartPr>
            <p14:xfrm>
              <a:off x="9870500" y="2747573"/>
              <a:ext cx="360" cy="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276C7753-270C-C934-74F9-706D026EDD4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52500" y="2729573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9FF"/>
                </a:solidFill>
              </a:rPr>
              <a:t>Data Pipeline &amp; 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5-step ingestion pipeline and the 40,000-record cybersecurity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4572000" cy="5120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4572000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4297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C9FF"/>
                </a:solidFill>
              </a:rPr>
              <a:t>Dataset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Records: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8470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40,000 network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6829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Features: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36829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25 attributes per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8950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Time Period: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8895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2020 – 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107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Attack Types: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4107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CCDDFF"/>
                </a:solidFill>
              </a:rPr>
              <a:t>Malware · DDoS · Intrusion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1645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C9FF"/>
                </a:solidFill>
              </a:rPr>
              <a:t>P</a:t>
            </a:r>
            <a:r>
              <a:rPr lang="en-IN" sz="1200" b="1" i="0" dirty="0">
                <a:solidFill>
                  <a:srgbClr val="00C9FF"/>
                </a:solidFill>
              </a:rPr>
              <a:t>orts</a:t>
            </a:r>
            <a:r>
              <a:rPr sz="1200" b="1" i="0" dirty="0">
                <a:solidFill>
                  <a:srgbClr val="00C9FF"/>
                </a:solidFill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931920"/>
            <a:ext cx="2560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Port 80 = HTTP (web browsing)</a:t>
            </a:r>
          </a:p>
          <a:p>
            <a:r>
              <a:rPr lang="en-IN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Port 443 = HTTPS (secure web)</a:t>
            </a:r>
          </a:p>
          <a:p>
            <a:r>
              <a:rPr lang="en-IN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Port 22 = SSH (remote login)</a:t>
            </a:r>
          </a:p>
          <a:p>
            <a:r>
              <a:rPr lang="en-IN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Port 3389 = RDP (remote desktop)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7433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FF"/>
                </a:solidFill>
              </a:rPr>
              <a:t>Severity: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97433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CCDDFF"/>
                </a:solidFill>
              </a:rPr>
              <a:t>Low · Med · High · 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49554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C9FF"/>
                </a:solidFill>
              </a:rPr>
              <a:t>Log Sources: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495544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CCDDFF"/>
                </a:solidFill>
              </a:rPr>
              <a:t>Server · Firewall · IPS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1325880"/>
            <a:ext cx="6675120" cy="5120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120640" y="1325880"/>
            <a:ext cx="6675120" cy="457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0" y="1417320"/>
            <a:ext cx="6309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7C3AFF"/>
                </a:solidFill>
              </a:rPr>
              <a:t>5-Step Ingestion 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57800" y="1847088"/>
            <a:ext cx="6400800" cy="749808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257800" y="1847088"/>
            <a:ext cx="64008" cy="7498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13248" y="1901952"/>
            <a:ext cx="1645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C9FF"/>
                </a:solidFill>
              </a:rPr>
              <a:t>1  SOURCE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1901952"/>
            <a:ext cx="4389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DFF"/>
                </a:solidFill>
              </a:rPr>
              <a:t>CSV / JSON Upload  +  Live API Stream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59689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57800" y="2715768"/>
            <a:ext cx="6400800" cy="749808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257800" y="2715768"/>
            <a:ext cx="64008" cy="7498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13248" y="2770632"/>
            <a:ext cx="1645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7C3AFF"/>
                </a:solidFill>
              </a:rPr>
              <a:t>2  INGEST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2770632"/>
            <a:ext cx="4389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DFF"/>
                </a:solidFill>
              </a:rPr>
              <a:t>Schema Validator · </a:t>
            </a:r>
            <a:r>
              <a:rPr sz="1600" b="0" i="0" dirty="0" err="1">
                <a:solidFill>
                  <a:srgbClr val="CCDDFF"/>
                </a:solidFill>
              </a:rPr>
              <a:t>Normaliser</a:t>
            </a:r>
            <a:r>
              <a:rPr sz="1600" b="0" i="0" dirty="0">
                <a:solidFill>
                  <a:srgbClr val="CCDDFF"/>
                </a:solidFill>
              </a:rPr>
              <a:t> · </a:t>
            </a:r>
            <a:r>
              <a:rPr sz="1600" b="0" i="0" dirty="0" err="1">
                <a:solidFill>
                  <a:srgbClr val="CCDDFF"/>
                </a:solidFill>
              </a:rPr>
              <a:t>Deduplicator</a:t>
            </a:r>
            <a:endParaRPr sz="1600" b="0" i="0" dirty="0">
              <a:solidFill>
                <a:srgbClr val="CCDDF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21040" y="346557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</a:rPr>
              <a:t>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57800" y="3584448"/>
            <a:ext cx="6400800" cy="749808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257800" y="3584448"/>
            <a:ext cx="64008" cy="7498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13248" y="3639312"/>
            <a:ext cx="164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8C00"/>
                </a:solidFill>
              </a:rPr>
              <a:t>3  STORE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3639312"/>
            <a:ext cx="4389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DFF"/>
                </a:solidFill>
              </a:rPr>
              <a:t>PostgreSQL Backend  (63 live records)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33425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</a:rPr>
              <a:t>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57800" y="4453127"/>
            <a:ext cx="6400800" cy="749808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257800" y="4453127"/>
            <a:ext cx="64008" cy="7498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13248" y="4507991"/>
            <a:ext cx="1645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E596"/>
                </a:solidFill>
              </a:rPr>
              <a:t>4  ANALYSE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4507991"/>
            <a:ext cx="4389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DFF"/>
                </a:solidFill>
              </a:rPr>
              <a:t>AI Engine · Analytics Engine · Dashboards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5202935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</a:rPr>
              <a:t>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57800" y="5321808"/>
            <a:ext cx="6400800" cy="749808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257800" y="5321808"/>
            <a:ext cx="64008" cy="749808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13248" y="5376672"/>
            <a:ext cx="1645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3B3B"/>
                </a:solidFill>
              </a:rPr>
              <a:t>5  RESPOND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6600" y="5376672"/>
            <a:ext cx="4389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DFF"/>
                </a:solidFill>
              </a:rPr>
              <a:t>Alert · Auto-Block · AI Recommendations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00C9FF"/>
                </a:solidFill>
              </a:rPr>
              <a:t>Attack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Protocol distribution, traffic types, attack signatures and response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191256" cy="5285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200400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i="0" dirty="0">
                <a:solidFill>
                  <a:srgbClr val="00C9FF"/>
                </a:solidFill>
              </a:rPr>
              <a:t>Port Split</a:t>
            </a:r>
            <a:endParaRPr sz="2000" b="1" i="0" dirty="0">
              <a:solidFill>
                <a:srgbClr val="00C9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2743200" cy="256032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932688" cy="25603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369" y="2146200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dirty="0">
                <a:solidFill>
                  <a:srgbClr val="00C9FF"/>
                </a:solidFill>
              </a:rPr>
              <a:t>Port 80-HTTP</a:t>
            </a:r>
            <a:endParaRPr sz="2000" b="1" i="0" dirty="0">
              <a:solidFill>
                <a:srgbClr val="00C9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0225" y="2520024"/>
            <a:ext cx="2743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00" b="0" i="0" dirty="0">
                <a:solidFill>
                  <a:srgbClr val="CCDDFF"/>
                </a:solidFill>
              </a:rPr>
              <a:t>Most-attacked, HTTP web browsing</a:t>
            </a:r>
            <a:endParaRPr sz="1000" b="0" i="0" dirty="0">
              <a:solidFill>
                <a:srgbClr val="CCDD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6928" y="2890530"/>
            <a:ext cx="2743200" cy="256032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57784" y="2903227"/>
            <a:ext cx="905256" cy="25603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548640" y="3384222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i="0" dirty="0">
                <a:solidFill>
                  <a:srgbClr val="7C3AFF"/>
                </a:solidFill>
              </a:rPr>
              <a:t>Port 443</a:t>
            </a:r>
            <a:endParaRPr sz="2000" b="1" i="0" dirty="0">
              <a:solidFill>
                <a:srgbClr val="7C3A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9369" y="3743850"/>
            <a:ext cx="2743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00" b="0" i="0" dirty="0">
                <a:solidFill>
                  <a:srgbClr val="CCDDFF"/>
                </a:solidFill>
              </a:rPr>
              <a:t>TLS/Zero-Day Exploits, HTTPS (Secure web)</a:t>
            </a:r>
            <a:endParaRPr sz="1000" b="0" i="0" dirty="0">
              <a:solidFill>
                <a:srgbClr val="CCDDFF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4360" y="4124167"/>
            <a:ext cx="2743200" cy="256032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8406" y="4123892"/>
            <a:ext cx="905256" cy="2560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4653899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rgbClr val="00E596"/>
                </a:solidFill>
              </a:rPr>
              <a:t>Port 3389-RDP</a:t>
            </a:r>
            <a:endParaRPr b="1" i="0" dirty="0">
              <a:solidFill>
                <a:srgbClr val="00E596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5115772"/>
            <a:ext cx="2743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00" b="0" i="0" dirty="0">
                <a:solidFill>
                  <a:srgbClr val="CCDDFF"/>
                </a:solidFill>
              </a:rPr>
              <a:t>DDoS/brute-force, remote desktop</a:t>
            </a:r>
            <a:endParaRPr sz="1000" b="0" i="0" dirty="0">
              <a:solidFill>
                <a:srgbClr val="CCDDFF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694176" y="1376916"/>
            <a:ext cx="3200400" cy="5120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Rectangle 21"/>
          <p:cNvSpPr/>
          <p:nvPr/>
        </p:nvSpPr>
        <p:spPr>
          <a:xfrm>
            <a:off x="3703320" y="1325880"/>
            <a:ext cx="3200400" cy="457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57784" y="5606859"/>
            <a:ext cx="2743200" cy="256032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57784" y="5593945"/>
            <a:ext cx="1152144" cy="256032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869215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i="0" dirty="0">
                <a:solidFill>
                  <a:srgbClr val="00C9FF"/>
                </a:solidFill>
              </a:rPr>
              <a:t>Port 22-SSH</a:t>
            </a:r>
            <a:endParaRPr sz="2000" b="1" i="0" dirty="0">
              <a:solidFill>
                <a:srgbClr val="00C9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5780" y="6200299"/>
            <a:ext cx="2743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00" dirty="0">
                <a:solidFill>
                  <a:srgbClr val="CCDDFF"/>
                </a:solidFill>
              </a:rPr>
              <a:t>Password </a:t>
            </a:r>
            <a:r>
              <a:rPr lang="en-IN" sz="1000" dirty="0" err="1">
                <a:solidFill>
                  <a:srgbClr val="CCDDFF"/>
                </a:solidFill>
              </a:rPr>
              <a:t>Spraying,remote</a:t>
            </a:r>
            <a:r>
              <a:rPr lang="en-IN" sz="1000" dirty="0">
                <a:solidFill>
                  <a:srgbClr val="CCDDFF"/>
                </a:solidFill>
              </a:rPr>
              <a:t> </a:t>
            </a:r>
            <a:r>
              <a:rPr lang="en-IN" sz="1000" dirty="0" err="1">
                <a:solidFill>
                  <a:srgbClr val="CCDDFF"/>
                </a:solidFill>
              </a:rPr>
              <a:t>loging</a:t>
            </a:r>
            <a:endParaRPr sz="1000" b="0" i="0" dirty="0">
              <a:solidFill>
                <a:srgbClr val="CCDDFF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086600" y="1325880"/>
            <a:ext cx="4709160" cy="5120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086600" y="1325880"/>
            <a:ext cx="470916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69480" y="1417320"/>
            <a:ext cx="4480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8C00"/>
                </a:solidFill>
              </a:rPr>
              <a:t>Attack Signature &amp; Response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760" y="1847088"/>
            <a:ext cx="4434840" cy="347472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223760" y="1874519"/>
            <a:ext cx="1078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C9FF"/>
                </a:solidFill>
              </a:rPr>
              <a:t>Type</a:t>
            </a:r>
            <a:endParaRPr sz="1000" b="1" i="0" dirty="0">
              <a:solidFill>
                <a:srgbClr val="00C9FF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339328" y="1874519"/>
            <a:ext cx="1078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C9FF"/>
                </a:solidFill>
              </a:rPr>
              <a:t>Severity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54896" y="1874519"/>
            <a:ext cx="1078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C9FF"/>
                </a:solidFill>
              </a:rPr>
              <a:t>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70464" y="1874519"/>
            <a:ext cx="1078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C9FF"/>
                </a:solidFill>
              </a:rPr>
              <a:t>Share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2267712"/>
            <a:ext cx="443484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223760" y="235915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3B3B"/>
                </a:solidFill>
              </a:rPr>
              <a:t>Malware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9328" y="235915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Low–High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54896" y="235915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Blocked/Logged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70464" y="2359152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33%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23760" y="2834640"/>
            <a:ext cx="4434840" cy="50292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223760" y="2926080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C00"/>
                </a:solidFill>
              </a:rPr>
              <a:t>DDoS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39328" y="2926080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Low–Critical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54896" y="2926080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Blocked/Ignored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70464" y="2926080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33%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23760" y="3401568"/>
            <a:ext cx="443484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223760" y="3493008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3AFF"/>
                </a:solidFill>
              </a:rPr>
              <a:t>Intrusion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39328" y="3493008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Med–Critical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54896" y="3493008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Blocked/Logged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70464" y="3493008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34%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86600" y="4462272"/>
            <a:ext cx="4892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CDDFF"/>
                </a:solidFill>
              </a:rPr>
              <a:t>Actions: Blocked 38% · Logged 32% · Ignored 30%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7DFAD2F-7233-C1BC-6442-0196F5A44314}"/>
              </a:ext>
            </a:extLst>
          </p:cNvPr>
          <p:cNvSpPr/>
          <p:nvPr/>
        </p:nvSpPr>
        <p:spPr>
          <a:xfrm>
            <a:off x="3950208" y="1863604"/>
            <a:ext cx="2743200" cy="256032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9B6BF1F-1987-705C-E339-AF39D008FFD5}"/>
              </a:ext>
            </a:extLst>
          </p:cNvPr>
          <p:cNvSpPr txBox="1"/>
          <p:nvPr/>
        </p:nvSpPr>
        <p:spPr>
          <a:xfrm>
            <a:off x="3925242" y="4653899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i="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High</a:t>
            </a:r>
            <a:endParaRPr sz="2000" b="1" i="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5CB747C-3CC8-D5D8-A930-0A21975C17A1}"/>
              </a:ext>
            </a:extLst>
          </p:cNvPr>
          <p:cNvSpPr txBox="1"/>
          <p:nvPr/>
        </p:nvSpPr>
        <p:spPr>
          <a:xfrm>
            <a:off x="3895344" y="3376359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i="0" dirty="0">
                <a:solidFill>
                  <a:srgbClr val="0070C0"/>
                </a:solidFill>
              </a:rPr>
              <a:t>Medium</a:t>
            </a:r>
            <a:endParaRPr sz="2000" b="1" i="0" dirty="0">
              <a:solidFill>
                <a:srgbClr val="0070C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2D184D4-D85D-CBD6-0215-5391635851D9}"/>
              </a:ext>
            </a:extLst>
          </p:cNvPr>
          <p:cNvSpPr txBox="1"/>
          <p:nvPr/>
        </p:nvSpPr>
        <p:spPr>
          <a:xfrm>
            <a:off x="3918204" y="2179873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i="0" dirty="0">
                <a:solidFill>
                  <a:schemeClr val="bg2">
                    <a:lumMod val="75000"/>
                  </a:schemeClr>
                </a:solidFill>
              </a:rPr>
              <a:t>Low</a:t>
            </a:r>
            <a:endParaRPr sz="2000" b="1" i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B77AE6F-CEEE-288D-824E-F4DFADE6A44E}"/>
              </a:ext>
            </a:extLst>
          </p:cNvPr>
          <p:cNvSpPr txBox="1"/>
          <p:nvPr/>
        </p:nvSpPr>
        <p:spPr>
          <a:xfrm>
            <a:off x="3931920" y="1425663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i="0" dirty="0">
                <a:solidFill>
                  <a:srgbClr val="00B050"/>
                </a:solidFill>
              </a:rPr>
              <a:t>Severity Split</a:t>
            </a:r>
            <a:endParaRPr sz="2000" b="1" i="0" dirty="0">
              <a:solidFill>
                <a:srgbClr val="00B05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A8B324B-6B60-8B33-7A1B-8FAA2394987B}"/>
              </a:ext>
            </a:extLst>
          </p:cNvPr>
          <p:cNvSpPr txBox="1"/>
          <p:nvPr/>
        </p:nvSpPr>
        <p:spPr>
          <a:xfrm>
            <a:off x="3803904" y="5869215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i="0" dirty="0">
                <a:solidFill>
                  <a:srgbClr val="FF0000"/>
                </a:solidFill>
              </a:rPr>
              <a:t>Critical</a:t>
            </a:r>
            <a:endParaRPr sz="2000" b="1" i="0" dirty="0">
              <a:solidFill>
                <a:srgbClr val="FF0000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69480C6-CD39-207D-4785-697B62512A60}"/>
              </a:ext>
            </a:extLst>
          </p:cNvPr>
          <p:cNvSpPr/>
          <p:nvPr/>
        </p:nvSpPr>
        <p:spPr>
          <a:xfrm>
            <a:off x="3895344" y="2843579"/>
            <a:ext cx="2743200" cy="256032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F1DAF21-26A9-0442-E6E7-C30F601A5503}"/>
              </a:ext>
            </a:extLst>
          </p:cNvPr>
          <p:cNvSpPr/>
          <p:nvPr/>
        </p:nvSpPr>
        <p:spPr>
          <a:xfrm>
            <a:off x="3950208" y="4166609"/>
            <a:ext cx="2743200" cy="256032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0ABF1AF-8366-0979-A635-BB0ECFD04183}"/>
              </a:ext>
            </a:extLst>
          </p:cNvPr>
          <p:cNvSpPr/>
          <p:nvPr/>
        </p:nvSpPr>
        <p:spPr>
          <a:xfrm>
            <a:off x="3862383" y="5606859"/>
            <a:ext cx="2743200" cy="256032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892CB66-955B-FAE9-3DB4-CE35D2A1EC69}"/>
              </a:ext>
            </a:extLst>
          </p:cNvPr>
          <p:cNvSpPr/>
          <p:nvPr/>
        </p:nvSpPr>
        <p:spPr>
          <a:xfrm>
            <a:off x="3862383" y="5592959"/>
            <a:ext cx="231152" cy="2560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3C6AFF3-40D8-2BA3-EE8D-DD530B5BD602}"/>
              </a:ext>
            </a:extLst>
          </p:cNvPr>
          <p:cNvSpPr/>
          <p:nvPr/>
        </p:nvSpPr>
        <p:spPr>
          <a:xfrm>
            <a:off x="3941064" y="4145557"/>
            <a:ext cx="1051702" cy="29566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AC0EF89-6256-EAFB-68B5-4B9EFFA702AA}"/>
              </a:ext>
            </a:extLst>
          </p:cNvPr>
          <p:cNvSpPr/>
          <p:nvPr/>
        </p:nvSpPr>
        <p:spPr>
          <a:xfrm>
            <a:off x="3895343" y="2844172"/>
            <a:ext cx="1527261" cy="2554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EB0ED54-71F3-9352-3139-43D5996A0B7B}"/>
              </a:ext>
            </a:extLst>
          </p:cNvPr>
          <p:cNvSpPr/>
          <p:nvPr/>
        </p:nvSpPr>
        <p:spPr>
          <a:xfrm>
            <a:off x="3956020" y="1869873"/>
            <a:ext cx="2138392" cy="21949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9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4-layer platform architecture of SecureView Pulse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1325880"/>
            <a:ext cx="896112" cy="9144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422" y="1618190"/>
            <a:ext cx="9511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chemeClr val="bg2"/>
                </a:solidFill>
              </a:rPr>
              <a:t>UI</a:t>
            </a:r>
            <a:endParaRPr sz="1600" b="1" dirty="0">
              <a:solidFill>
                <a:schemeClr val="bg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7160" y="2423160"/>
            <a:ext cx="896112" cy="9144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-51264" y="2688038"/>
            <a:ext cx="13753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chemeClr val="bg2"/>
                </a:solidFill>
              </a:rPr>
              <a:t>APPLICATION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3520440"/>
            <a:ext cx="896112" cy="9144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422" y="3693053"/>
            <a:ext cx="9968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chemeClr val="bg2"/>
                </a:solidFill>
              </a:rPr>
              <a:t>SEC</a:t>
            </a:r>
            <a:r>
              <a:rPr lang="en-IN" sz="1600" b="1" dirty="0">
                <a:solidFill>
                  <a:schemeClr val="bg2"/>
                </a:solidFill>
              </a:rPr>
              <a:t>URITY</a:t>
            </a:r>
            <a:r>
              <a:rPr sz="1600" b="1" dirty="0">
                <a:solidFill>
                  <a:schemeClr val="bg2"/>
                </a:solidFill>
              </a:rPr>
              <a:t>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" y="4617720"/>
            <a:ext cx="896112" cy="9144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" y="4737038"/>
            <a:ext cx="8961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chemeClr val="bg2"/>
                </a:solidFill>
              </a:rPr>
              <a:t>DA</a:t>
            </a:r>
            <a:r>
              <a:rPr lang="en-IN" sz="1600" b="1" dirty="0">
                <a:solidFill>
                  <a:schemeClr val="bg2"/>
                </a:solidFill>
              </a:rPr>
              <a:t>TA LAYER</a:t>
            </a:r>
            <a:endParaRPr sz="1600" b="1" dirty="0">
              <a:solidFill>
                <a:schemeClr val="bg2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70432" y="1325880"/>
            <a:ext cx="24688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70432" y="1325880"/>
            <a:ext cx="2468880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43584" y="1399032"/>
            <a:ext cx="23225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C9FF"/>
                </a:solidFill>
              </a:rPr>
              <a:t>React 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1691640"/>
            <a:ext cx="2377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900" dirty="0">
                <a:solidFill>
                  <a:schemeClr val="bg2"/>
                </a:solidFill>
              </a:rPr>
              <a:t>Purple Theme UI</a:t>
            </a:r>
            <a:endParaRPr sz="900" b="0" i="0" dirty="0">
              <a:solidFill>
                <a:schemeClr val="bg2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867912" y="1325880"/>
            <a:ext cx="24688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67912" y="1325880"/>
            <a:ext cx="2468880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41064" y="1399032"/>
            <a:ext cx="23225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C9FF"/>
                </a:solidFill>
              </a:rPr>
              <a:t>Top Navigation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13632" y="1691640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 err="1">
                <a:solidFill>
                  <a:schemeClr val="bg2"/>
                </a:solidFill>
              </a:rPr>
              <a:t>Dashboard·Analytics</a:t>
            </a:r>
            <a:r>
              <a:rPr sz="900" b="0" i="0" dirty="0">
                <a:solidFill>
                  <a:schemeClr val="bg2"/>
                </a:solidFill>
              </a:rPr>
              <a:t>
AI </a:t>
            </a:r>
            <a:r>
              <a:rPr sz="900" b="0" i="0" dirty="0" err="1">
                <a:solidFill>
                  <a:schemeClr val="bg2"/>
                </a:solidFill>
              </a:rPr>
              <a:t>Summary·AI</a:t>
            </a:r>
            <a:r>
              <a:rPr sz="900" b="0" i="0" dirty="0">
                <a:solidFill>
                  <a:schemeClr val="bg2"/>
                </a:solidFill>
              </a:rPr>
              <a:t> Recs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65392" y="1325880"/>
            <a:ext cx="24688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65392" y="1325880"/>
            <a:ext cx="2468880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38544" y="1399032"/>
            <a:ext cx="23225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C9FF"/>
                </a:solidFill>
              </a:rPr>
              <a:t>Sidebar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1691640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chemeClr val="bg2"/>
                </a:solidFill>
              </a:rPr>
              <a:t>IP A</a:t>
            </a:r>
            <a:r>
              <a:rPr lang="en-IN" sz="900" b="0" i="0" dirty="0">
                <a:solidFill>
                  <a:schemeClr val="bg2"/>
                </a:solidFill>
              </a:rPr>
              <a:t>gent</a:t>
            </a:r>
            <a:r>
              <a:rPr lang="en-IN" sz="900" dirty="0">
                <a:solidFill>
                  <a:schemeClr val="bg2"/>
                </a:solidFill>
              </a:rPr>
              <a:t>· Pages ·Security Tools</a:t>
            </a:r>
          </a:p>
          <a:p>
            <a:pPr algn="ctr"/>
            <a:r>
              <a:rPr sz="900" b="0" i="0" dirty="0">
                <a:solidFill>
                  <a:schemeClr val="bg2"/>
                </a:solidFill>
              </a:rPr>
              <a:t>·</a:t>
            </a:r>
            <a:r>
              <a:rPr lang="en-IN" sz="900" dirty="0">
                <a:solidFill>
                  <a:schemeClr val="bg2"/>
                </a:solidFill>
              </a:rPr>
              <a:t>Core </a:t>
            </a:r>
            <a:r>
              <a:rPr sz="900" b="0" i="0" dirty="0">
                <a:solidFill>
                  <a:schemeClr val="bg2"/>
                </a:solidFill>
              </a:rPr>
              <a:t>Tools</a:t>
            </a:r>
            <a:endParaRPr lang="en-IN" sz="900" b="0" i="0" dirty="0">
              <a:solidFill>
                <a:schemeClr val="bg2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262872" y="1325880"/>
            <a:ext cx="24688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262872" y="1325880"/>
            <a:ext cx="2468880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36024" y="1399032"/>
            <a:ext cx="23225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C9FF"/>
                </a:solidFill>
              </a:rPr>
              <a:t>Geo Risk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1691640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chemeClr val="bg2"/>
                </a:solidFill>
              </a:rPr>
              <a:t>Global Map
Attack Vectors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70432" y="2286000"/>
            <a:ext cx="10561320" cy="36576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59439" y="2524566"/>
            <a:ext cx="24688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170432" y="2423160"/>
            <a:ext cx="2468880" cy="457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43584" y="2496312"/>
            <a:ext cx="23225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7C3AFF"/>
                </a:solidFill>
              </a:rPr>
              <a:t>AI Summary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2788920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chemeClr val="bg2"/>
                </a:solidFill>
              </a:rPr>
              <a:t>LLM Narratives
Threat 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67912" y="2423160"/>
            <a:ext cx="24688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867912" y="2423160"/>
            <a:ext cx="2468880" cy="457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941064" y="2496312"/>
            <a:ext cx="23225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7C3AFF"/>
                </a:solidFill>
              </a:rPr>
              <a:t>AI Recommendations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65392" y="2423160"/>
            <a:ext cx="24688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565392" y="2423160"/>
            <a:ext cx="2468880" cy="457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38544" y="2496312"/>
            <a:ext cx="23225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7C3AFF"/>
                </a:solidFill>
              </a:rPr>
              <a:t>Analytics Engine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11112" y="2788920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 err="1">
                <a:solidFill>
                  <a:schemeClr val="bg2"/>
                </a:solidFill>
              </a:rPr>
              <a:t>Charts·Trends</a:t>
            </a:r>
            <a:r>
              <a:rPr sz="900" b="0" i="0" dirty="0">
                <a:solidFill>
                  <a:schemeClr val="bg2"/>
                </a:solidFill>
              </a:rPr>
              <a:t>
Frequency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62872" y="2423160"/>
            <a:ext cx="24688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262872" y="2423160"/>
            <a:ext cx="2468880" cy="457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36024" y="2496312"/>
            <a:ext cx="23225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7C3AFF"/>
                </a:solidFill>
              </a:rPr>
              <a:t>IP 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08592" y="2788920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chemeClr val="bg2"/>
                </a:solidFill>
              </a:rPr>
              <a:t>NL Queries
Incident Explain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70432" y="3383280"/>
            <a:ext cx="10561320" cy="36576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509192" y="3502152"/>
            <a:ext cx="123444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509192" y="3510474"/>
            <a:ext cx="1234440" cy="457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09190" y="3529471"/>
            <a:ext cx="10881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E596"/>
                </a:solidFill>
              </a:rPr>
              <a:t>Nmap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23160" y="3907607"/>
            <a:ext cx="1143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chemeClr val="bg2"/>
                </a:solidFill>
              </a:rPr>
              <a:t>Port Scan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22665" y="3520440"/>
            <a:ext cx="2415679" cy="8778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2622665" y="3520440"/>
            <a:ext cx="2415679" cy="457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496312" y="3593592"/>
            <a:ext cx="2468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i="0" dirty="0">
                <a:solidFill>
                  <a:srgbClr val="00E596"/>
                </a:solidFill>
              </a:rPr>
              <a:t>Web Application Security</a:t>
            </a:r>
            <a:endParaRPr sz="1600" b="1" i="0" dirty="0">
              <a:solidFill>
                <a:srgbClr val="00E596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056819" y="3871401"/>
            <a:ext cx="1143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50" b="0" i="0" dirty="0">
                <a:solidFill>
                  <a:schemeClr val="bg2"/>
                </a:solidFill>
              </a:rPr>
              <a:t>OWASP ZAP</a:t>
            </a:r>
            <a:endParaRPr sz="1050" b="0" i="0" dirty="0">
              <a:solidFill>
                <a:schemeClr val="bg2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120640" y="3520440"/>
            <a:ext cx="3306258" cy="87782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120639" y="3520440"/>
            <a:ext cx="3306257" cy="457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93792" y="3593592"/>
            <a:ext cx="3149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i="0" dirty="0">
                <a:solidFill>
                  <a:srgbClr val="00E596"/>
                </a:solidFill>
              </a:rPr>
              <a:t>SIEM &amp;Monitoring</a:t>
            </a:r>
            <a:endParaRPr sz="1600" b="1" i="0" dirty="0">
              <a:solidFill>
                <a:srgbClr val="00E596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166360" y="3886200"/>
            <a:ext cx="31770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50" b="0" i="0" dirty="0" err="1">
                <a:solidFill>
                  <a:schemeClr val="bg2"/>
                </a:solidFill>
              </a:rPr>
              <a:t>Wazuh</a:t>
            </a:r>
            <a:endParaRPr sz="1200" b="0" i="0" dirty="0">
              <a:solidFill>
                <a:schemeClr val="bg2"/>
              </a:solidFill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1170432" y="4480560"/>
            <a:ext cx="10561320" cy="36576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170432" y="4617720"/>
            <a:ext cx="246888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170432" y="4617720"/>
            <a:ext cx="246888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243584" y="4690872"/>
            <a:ext cx="23225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8C00"/>
                </a:solidFill>
              </a:rPr>
              <a:t>CSV/JSON Upload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16152" y="4983480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chemeClr val="bg2"/>
                </a:solidFill>
              </a:rPr>
              <a:t>File Ingest
Validator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867912" y="4617720"/>
            <a:ext cx="246888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3867912" y="4617720"/>
            <a:ext cx="246888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941064" y="4690872"/>
            <a:ext cx="23225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8C00"/>
                </a:solidFill>
              </a:rPr>
              <a:t>Live API Stream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913632" y="4983480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chemeClr val="bg2"/>
                </a:solidFill>
              </a:rPr>
              <a:t>Real-time
Configurable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565392" y="4617720"/>
            <a:ext cx="246888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6565392" y="4617720"/>
            <a:ext cx="246888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638544" y="4690872"/>
            <a:ext cx="23225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8C00"/>
                </a:solidFill>
              </a:rPr>
              <a:t>REST API Tester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11112" y="4983480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chemeClr val="bg2"/>
                </a:solidFill>
              </a:rPr>
              <a:t>Endpoint Test
Payloads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262872" y="4617720"/>
            <a:ext cx="2468880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9262872" y="4617720"/>
            <a:ext cx="246888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336024" y="4690872"/>
            <a:ext cx="23225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8C00"/>
                </a:solidFill>
              </a:rPr>
              <a:t>PostgreSQL DB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308592" y="4983480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chemeClr val="bg2"/>
                </a:solidFill>
              </a:rPr>
              <a:t>63 Live Records
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170432" y="5687568"/>
            <a:ext cx="10561320" cy="36576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170432" y="5742432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 dirty="0">
                <a:solidFill>
                  <a:srgbClr val="8899BB"/>
                </a:solidFill>
              </a:rPr>
              <a:t>Auto-Block Engine  ·  Alert Bus  ·  API Key Manager  ·  Settings Controller  ·  RBAC Auth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00C9FF"/>
                </a:solidFill>
              </a:rP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BB"/>
                </a:solidFill>
              </a:rPr>
              <a:t>Critical insights discovered and actionable security improvements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59" y="1325880"/>
            <a:ext cx="11274425" cy="4447599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303520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C9FF"/>
                </a:solidFill>
              </a:rPr>
              <a:t>Key Findings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54864" cy="50292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883664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3B3B"/>
                </a:solidFill>
              </a:rPr>
              <a:t>Attack Split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76272"/>
            <a:ext cx="104766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DFF"/>
                </a:solidFill>
              </a:rPr>
              <a:t>Malware 33% · DDoS 33% · Intrusion 34% — equal spread across all vectors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60904"/>
            <a:ext cx="54864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642616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8C00"/>
                </a:solidFill>
              </a:rPr>
              <a:t>Timing</a:t>
            </a:r>
            <a:endParaRPr sz="1100" b="1" i="0" dirty="0">
              <a:solidFill>
                <a:srgbClr val="FF8C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2935224"/>
            <a:ext cx="10312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DFF"/>
                </a:solidFill>
              </a:rPr>
              <a:t>Peak 08:00–16:00 UTC. Bot-driven DDoS overnight — exploit unmonitored windows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19855"/>
            <a:ext cx="54864" cy="5029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401567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1" i="0" dirty="0">
                <a:solidFill>
                  <a:srgbClr val="00C9FF"/>
                </a:solidFill>
              </a:rPr>
              <a:t>Ports</a:t>
            </a:r>
            <a:endParaRPr sz="1600" b="1" i="0" dirty="0">
              <a:solidFill>
                <a:srgbClr val="00C9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" y="3694175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0" i="0" dirty="0">
                <a:solidFill>
                  <a:srgbClr val="CCDDFF"/>
                </a:solidFill>
              </a:rPr>
              <a:t>Port 80, Port 443, Port 22, Port  3389</a:t>
            </a:r>
            <a:endParaRPr sz="1600" b="0" i="0" dirty="0">
              <a:solidFill>
                <a:srgbClr val="CCDDFF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33754" y="4213575"/>
            <a:ext cx="54864" cy="5029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4" y="4160518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7C3AFF"/>
                </a:solidFill>
              </a:rPr>
              <a:t>Severity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4506356"/>
            <a:ext cx="67631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DDFF"/>
                </a:solidFill>
              </a:rPr>
              <a:t>50% Low but 7 Critical + 22 High need immediate escalation &amp; triage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2552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FF"/>
                </a:solidFill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399"/>
            <a:ext cx="5093208" cy="4119937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5303520" cy="457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C9FF"/>
                </a:solidFill>
              </a:rPr>
              <a:t>What We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188" y="1463040"/>
            <a:ext cx="507509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CCDDFF"/>
                </a:solidFill>
              </a:rPr>
              <a:t>  •  Full-stack Cyber Threat Intelligence dashboard</a:t>
            </a:r>
            <a:endParaRPr lang="en-IN" sz="1600" dirty="0">
              <a:solidFill>
                <a:srgbClr val="CCDDFF"/>
              </a:solidFill>
            </a:endParaRPr>
          </a:p>
          <a:p>
            <a:pPr algn="l"/>
            <a:endParaRPr sz="1600" dirty="0">
              <a:solidFill>
                <a:srgbClr val="CCDDFF"/>
              </a:solidFill>
            </a:endParaRPr>
          </a:p>
          <a:p>
            <a:pPr algn="l"/>
            <a:r>
              <a:rPr sz="1600" dirty="0">
                <a:solidFill>
                  <a:srgbClr val="CCDDFF"/>
                </a:solidFill>
              </a:rPr>
              <a:t>  •  AI threat summarization + recommendation engine</a:t>
            </a:r>
          </a:p>
          <a:p>
            <a:pPr algn="l"/>
            <a:endParaRPr lang="en-IN" sz="1600" dirty="0">
              <a:solidFill>
                <a:srgbClr val="CCDDFF"/>
              </a:solidFill>
            </a:endParaRPr>
          </a:p>
          <a:p>
            <a:pPr algn="l"/>
            <a:r>
              <a:rPr sz="1600" dirty="0">
                <a:solidFill>
                  <a:srgbClr val="CCDDFF"/>
                </a:solidFill>
              </a:rPr>
              <a:t>  •  </a:t>
            </a:r>
            <a:r>
              <a:rPr lang="en-IN" sz="1600" dirty="0">
                <a:solidFill>
                  <a:srgbClr val="CCDDFF"/>
                </a:solidFill>
              </a:rPr>
              <a:t>2</a:t>
            </a:r>
            <a:r>
              <a:rPr sz="1600" dirty="0">
                <a:solidFill>
                  <a:srgbClr val="CCDDFF"/>
                </a:solidFill>
              </a:rPr>
              <a:t> integrated security tools in one platform</a:t>
            </a:r>
          </a:p>
          <a:p>
            <a:pPr algn="l"/>
            <a:endParaRPr lang="en-IN" sz="1600" dirty="0">
              <a:solidFill>
                <a:srgbClr val="CCDDFF"/>
              </a:solidFill>
            </a:endParaRPr>
          </a:p>
          <a:p>
            <a:pPr algn="l"/>
            <a:r>
              <a:rPr sz="1600" dirty="0">
                <a:solidFill>
                  <a:srgbClr val="CCDDFF"/>
                </a:solidFill>
              </a:rPr>
              <a:t>  •  40,000-record dataset processed &amp; visualized</a:t>
            </a:r>
          </a:p>
          <a:p>
            <a:pPr algn="l"/>
            <a:endParaRPr lang="en-IN" sz="1600" dirty="0">
              <a:solidFill>
                <a:srgbClr val="CCDDFF"/>
              </a:solidFill>
            </a:endParaRPr>
          </a:p>
          <a:p>
            <a:pPr algn="l"/>
            <a:r>
              <a:rPr sz="1600" dirty="0">
                <a:solidFill>
                  <a:srgbClr val="CCDDFF"/>
                </a:solidFill>
              </a:rPr>
              <a:t>  •  Real-time geospatial attack map</a:t>
            </a:r>
          </a:p>
          <a:p>
            <a:pPr algn="l"/>
            <a:endParaRPr lang="en-IN" sz="1600" dirty="0">
              <a:solidFill>
                <a:srgbClr val="CCDDFF"/>
              </a:solidFill>
            </a:endParaRPr>
          </a:p>
          <a:p>
            <a:pPr algn="l"/>
            <a:r>
              <a:rPr sz="1600" dirty="0">
                <a:solidFill>
                  <a:srgbClr val="CCDDFF"/>
                </a:solidFill>
              </a:rPr>
              <a:t>  •  PostgreSQL-backed threat logging</a:t>
            </a:r>
          </a:p>
          <a:p>
            <a:pPr algn="l"/>
            <a:endParaRPr lang="en-IN" sz="1600" dirty="0">
              <a:solidFill>
                <a:srgbClr val="CCDDFF"/>
              </a:solidFill>
            </a:endParaRPr>
          </a:p>
          <a:p>
            <a:pPr algn="l"/>
            <a:r>
              <a:rPr sz="1600" dirty="0">
                <a:solidFill>
                  <a:srgbClr val="CCDDFF"/>
                </a:solidFill>
              </a:rPr>
              <a:t>  •  Auto-block + REST API + Live API integration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914400"/>
            <a:ext cx="5943600" cy="3474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2160" y="914400"/>
            <a:ext cx="5943600" cy="457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1024128"/>
            <a:ext cx="5577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7C3AFF"/>
                </a:solidFill>
              </a:rPr>
              <a:t>Future Roadmap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517904"/>
            <a:ext cx="777240" cy="2743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80760" y="151790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Q2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49961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DDFF"/>
                </a:solidFill>
              </a:rPr>
              <a:t>ML anomaly detection (</a:t>
            </a:r>
            <a:r>
              <a:rPr sz="1100" b="0" i="0" dirty="0" err="1">
                <a:solidFill>
                  <a:srgbClr val="CCDDFF"/>
                </a:solidFill>
              </a:rPr>
              <a:t>XGBoost</a:t>
            </a:r>
            <a:r>
              <a:rPr sz="1100" b="0" i="0" dirty="0">
                <a:solidFill>
                  <a:srgbClr val="CCDDFF"/>
                </a:solidFill>
              </a:rPr>
              <a:t> / Random Forest)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020824"/>
            <a:ext cx="777240" cy="2743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0760" y="202082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Q2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00253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Deep packet inspection (Wireshark API)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523744"/>
            <a:ext cx="777240" cy="2743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80760" y="252374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Q3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50545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SOAR automated incident response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3026664"/>
            <a:ext cx="777240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80760" y="302666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Q3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00837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Multi-tenant RBAC user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3529584"/>
            <a:ext cx="777240" cy="27432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80760" y="352958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Q4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51129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Mobile app (iOS / Android) for on-call alerts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4032503"/>
            <a:ext cx="777240" cy="2743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80760" y="4032503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E1A"/>
                </a:solidFill>
              </a:rPr>
              <a:t>Q1 2027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014215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DDFF"/>
                </a:solidFill>
              </a:rPr>
              <a:t>Federated learning for privacy-safe ML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8FECF90-49AC-1CE2-14F7-AF93242D1E84}"/>
              </a:ext>
            </a:extLst>
          </p:cNvPr>
          <p:cNvSpPr/>
          <p:nvPr/>
        </p:nvSpPr>
        <p:spPr>
          <a:xfrm>
            <a:off x="656514" y="1430334"/>
            <a:ext cx="4551451" cy="400110"/>
          </a:xfrm>
          <a:prstGeom prst="round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58F73D8-0579-89AF-073C-736B6558A8A6}"/>
              </a:ext>
            </a:extLst>
          </p:cNvPr>
          <p:cNvSpPr/>
          <p:nvPr/>
        </p:nvSpPr>
        <p:spPr>
          <a:xfrm>
            <a:off x="646243" y="1901952"/>
            <a:ext cx="4593577" cy="400110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416BD53-7381-ACF7-15C5-0AE7FB8675DA}"/>
              </a:ext>
            </a:extLst>
          </p:cNvPr>
          <p:cNvSpPr/>
          <p:nvPr/>
        </p:nvSpPr>
        <p:spPr>
          <a:xfrm>
            <a:off x="646242" y="2373570"/>
            <a:ext cx="4551451" cy="400110"/>
          </a:xfrm>
          <a:prstGeom prst="roundRect">
            <a:avLst/>
          </a:prstGeom>
          <a:noFill/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B451792-A92B-A84A-8ED2-4323AF253EE2}"/>
              </a:ext>
            </a:extLst>
          </p:cNvPr>
          <p:cNvSpPr/>
          <p:nvPr/>
        </p:nvSpPr>
        <p:spPr>
          <a:xfrm>
            <a:off x="646243" y="2865531"/>
            <a:ext cx="4551451" cy="400110"/>
          </a:xfrm>
          <a:prstGeom prst="roundRect">
            <a:avLst/>
          </a:prstGeom>
          <a:noFill/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2912044-4E8C-7EA1-367D-7FD2DF0456F5}"/>
              </a:ext>
            </a:extLst>
          </p:cNvPr>
          <p:cNvSpPr/>
          <p:nvPr/>
        </p:nvSpPr>
        <p:spPr>
          <a:xfrm>
            <a:off x="688367" y="3345848"/>
            <a:ext cx="4551451" cy="400110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6751284-6F32-B144-FC95-1F5E4417EE7A}"/>
              </a:ext>
            </a:extLst>
          </p:cNvPr>
          <p:cNvSpPr/>
          <p:nvPr/>
        </p:nvSpPr>
        <p:spPr>
          <a:xfrm>
            <a:off x="688369" y="4371362"/>
            <a:ext cx="4551451" cy="400110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B1A9F9E-28A3-6125-5BE1-D59AE7689394}"/>
              </a:ext>
            </a:extLst>
          </p:cNvPr>
          <p:cNvSpPr/>
          <p:nvPr/>
        </p:nvSpPr>
        <p:spPr>
          <a:xfrm>
            <a:off x="688368" y="3845463"/>
            <a:ext cx="4551451" cy="400110"/>
          </a:xfrm>
          <a:prstGeom prst="roundRect">
            <a:avLst/>
          </a:prstGeom>
          <a:noFill/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1786F-E336-854B-4436-41356FD40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3E2A34-B41E-4DD3-F5B3-9B9CAD8016F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B5A3EB-77E4-A96A-5460-89754FEA8F5D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4B1602-AC6D-E40E-6748-E68A3F7F3CAF}"/>
              </a:ext>
            </a:extLst>
          </p:cNvPr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BE0211-4D69-B272-0C12-B7ED76CA21DC}"/>
              </a:ext>
            </a:extLst>
          </p:cNvPr>
          <p:cNvSpPr/>
          <p:nvPr/>
        </p:nvSpPr>
        <p:spPr>
          <a:xfrm>
            <a:off x="8229600" y="0"/>
            <a:ext cx="45720" cy="685800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3CEEC2-101A-944A-4253-F0A93E210CE0}"/>
              </a:ext>
            </a:extLst>
          </p:cNvPr>
          <p:cNvSpPr txBox="1"/>
          <p:nvPr/>
        </p:nvSpPr>
        <p:spPr>
          <a:xfrm>
            <a:off x="2440113" y="3089553"/>
            <a:ext cx="749807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5000" b="1" i="0" dirty="0">
                <a:solidFill>
                  <a:srgbClr val="FFFFFF"/>
                </a:solidFill>
              </a:rPr>
              <a:t>THANK YOU!</a:t>
            </a:r>
            <a:endParaRPr sz="5000" b="1" i="0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544E73-BA52-B997-E51C-4BB2F9AC86AE}"/>
              </a:ext>
            </a:extLst>
          </p:cNvPr>
          <p:cNvSpPr txBox="1"/>
          <p:nvPr/>
        </p:nvSpPr>
        <p:spPr>
          <a:xfrm>
            <a:off x="457200" y="2514600"/>
            <a:ext cx="74980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2400" b="0" i="0" dirty="0">
              <a:solidFill>
                <a:srgbClr val="00C9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D94F7B-1907-24CC-1657-FA2FADB393C5}"/>
              </a:ext>
            </a:extLst>
          </p:cNvPr>
          <p:cNvSpPr txBox="1"/>
          <p:nvPr/>
        </p:nvSpPr>
        <p:spPr>
          <a:xfrm>
            <a:off x="8686800" y="10972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 dirty="0">
                <a:solidFill>
                  <a:srgbClr val="00C9FF"/>
                </a:solidFill>
              </a:rPr>
              <a:t>🛡️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D1B9CD-A5E6-B68E-9EBF-D4D48B2E2B6A}"/>
              </a:ext>
            </a:extLst>
          </p:cNvPr>
          <p:cNvSpPr txBox="1"/>
          <p:nvPr/>
        </p:nvSpPr>
        <p:spPr>
          <a:xfrm>
            <a:off x="457200" y="62636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</a:rPr>
              <a:t>Cybersecurity Research Team  |  March 2026</a:t>
            </a:r>
          </a:p>
        </p:txBody>
      </p:sp>
    </p:spTree>
    <p:extLst>
      <p:ext uri="{BB962C8B-B14F-4D97-AF65-F5344CB8AC3E}">
        <p14:creationId xmlns:p14="http://schemas.microsoft.com/office/powerpoint/2010/main" val="1745604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970</Words>
  <Application>Microsoft Office PowerPoint</Application>
  <PresentationFormat>Custom</PresentationFormat>
  <Paragraphs>258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prasa</dc:creator>
  <cp:keywords/>
  <dc:description>generated using python-pptx</dc:description>
  <cp:lastModifiedBy>prasadpatteti68@gmail.com</cp:lastModifiedBy>
  <cp:revision>5</cp:revision>
  <dcterms:created xsi:type="dcterms:W3CDTF">2013-01-27T09:14:16Z</dcterms:created>
  <dcterms:modified xsi:type="dcterms:W3CDTF">2026-03-30T04:46:20Z</dcterms:modified>
  <cp:category/>
</cp:coreProperties>
</file>